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645920"/>
            <a:ext cx="5029200" cy="5029200"/>
          </a:xfrm>
          <a:prstGeom prst="ellipse">
            <a:avLst/>
          </a:prstGeom>
          <a:solidFill>
            <a:srgbClr val="C49A3C">
              <a:alpha val="4000"/>
            </a:srgbClr>
          </a:solidFill>
          <a:ln w="6350">
            <a:solidFill>
              <a:srgbClr val="7A5E2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114800" cy="4114800"/>
          </a:xfrm>
          <a:prstGeom prst="ellipse">
            <a:avLst/>
          </a:prstGeom>
          <a:solidFill>
            <a:srgbClr val="8B7FD4">
              <a:alpha val="3000"/>
            </a:srgbClr>
          </a:solidFill>
          <a:ln w="6350">
            <a:solidFill>
              <a:srgbClr val="4A408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C4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ambient achievement operating system.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33672" y="3703320"/>
            <a:ext cx="91440" cy="91440"/>
          </a:xfrm>
          <a:prstGeom prst="ellipse">
            <a:avLst/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34840" y="3703320"/>
            <a:ext cx="91440" cy="91440"/>
          </a:xfrm>
          <a:prstGeom prst="ellipse">
            <a:avLst/>
          </a:prstGeom>
          <a:solidFill>
            <a:srgbClr val="38A07A"/>
          </a:solidFill>
          <a:ln w="12700">
            <a:solidFill>
              <a:srgbClr val="38A0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36008" y="3703320"/>
            <a:ext cx="91440" cy="91440"/>
          </a:xfrm>
          <a:prstGeom prst="ellipse">
            <a:avLst/>
          </a:prstGeom>
          <a:solidFill>
            <a:srgbClr val="C4813A"/>
          </a:solidFill>
          <a:ln w="12700">
            <a:solidFill>
              <a:srgbClr val="C48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 ·  Seed Stage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EA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Productivity tools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EA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you feel behind.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apps are built around outcomes — the one-off tasks, the meetings, the projects. They completely ignore the daily baseline that makes every good day possible. The ordinary never gets credited. The standard protocol never gets rewarded.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670048"/>
            <a:ext cx="5120640" cy="1353312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7432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C4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33832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productivity app users abandon within 30 days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481328"/>
            <a:ext cx="2834640" cy="1170432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481328"/>
            <a:ext cx="45720" cy="1170432"/>
          </a:xfrm>
          <a:prstGeom prst="rect">
            <a:avLst/>
          </a:prstGeom>
          <a:solidFill>
            <a:srgbClr val="3A3733"/>
          </a:solidFill>
          <a:ln w="12700">
            <a:solidFill>
              <a:srgbClr val="3A3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apps track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18470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proposal  ·  Call accountant  ·  Book meeting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2788920"/>
            <a:ext cx="2834640" cy="2011680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2788920"/>
            <a:ext cx="45720" cy="201168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880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matters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0760" y="3182112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workout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work block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financial review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ritual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A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ordinary is where excellence lives.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habits, patterns, and routines that become second nature — these are the compound interest of a high-performing life. They never feel dramatic. They feel mundane. That's exactly why they need to be rewarded.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2697480" cy="2176272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697480"/>
            <a:ext cx="45720" cy="217627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7797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Principle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" y="30540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Amabile, Harvard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" y="331012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wins, consistently recognized, are the single biggest driver of motivation at work.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1568" y="2697480"/>
            <a:ext cx="2697480" cy="2176272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2697480"/>
            <a:ext cx="45720" cy="217627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7797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Intentions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30540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Gollwitzer, NYU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331012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state when, where, and how they'll act are significantly more likely to follow through.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0216" y="2697480"/>
            <a:ext cx="2697480" cy="2176272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0216" y="2697480"/>
            <a:ext cx="45720" cy="217627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27797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Identity-Based Habits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64808" y="30540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Atomic Habits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64808" y="331012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Lasting behavior change is rooted in identity, not outcomes. 'I ran a clean protocol' compounds.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A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ambient personal operating system that rewards your standard protocol, learns your patterns, and scores your week — without ever becoming another thing on your list.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5303520" cy="1207008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423160"/>
            <a:ext cx="45720" cy="1207008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9631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B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Oura ring of achievement."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90779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lives in the background. You forget it's there. Every time you notice it, you're grateful — and it makes you want to do it again tomorrow.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389888"/>
            <a:ext cx="2651760" cy="1024128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4813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65392" y="1481328"/>
            <a:ext cx="2057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over present — invisible by default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2596896"/>
            <a:ext cx="2651760" cy="1024128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268833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65392" y="2688336"/>
            <a:ext cx="2057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Reflect, never judge — a mirror, not a leash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3803904"/>
            <a:ext cx="2651760" cy="1024128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89534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65392" y="3895344"/>
            <a:ext cx="2057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over outcome — 'you ran a clean protocol'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A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layers. One daily loop.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697480" cy="2423160"/>
          </a:xfrm>
          <a:prstGeom prst="rect">
            <a:avLst/>
          </a:prstGeom>
          <a:solidFill>
            <a:srgbClr val="1A1830"/>
          </a:solidFill>
          <a:ln w="10160">
            <a:solidFill>
              <a:srgbClr val="8B7F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66420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7F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67512" y="2139696"/>
            <a:ext cx="236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+1pt each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7512" y="2414016"/>
            <a:ext cx="2368296" cy="457200"/>
          </a:xfrm>
          <a:prstGeom prst="rect">
            <a:avLst/>
          </a:prstGeom>
          <a:solidFill>
            <a:srgbClr val="0C0C0F"/>
          </a:solidFill>
          <a:ln w="5080">
            <a:solidFill>
              <a:srgbClr val="8B7FD4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487168"/>
            <a:ext cx="2368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SOP. The daily baseline that makes every good day possible. Auto-loaded each morning from your operating procedure. The foundation.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01568" y="1481328"/>
            <a:ext cx="2697480" cy="2423160"/>
          </a:xfrm>
          <a:prstGeom prst="rect">
            <a:avLst/>
          </a:prstGeom>
          <a:solidFill>
            <a:srgbClr val="0D2218"/>
          </a:solidFill>
          <a:ln w="10160">
            <a:solidFill>
              <a:srgbClr val="38A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66420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A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66160" y="2139696"/>
            <a:ext cx="236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+2pts each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66160" y="2414016"/>
            <a:ext cx="2368296" cy="457200"/>
          </a:xfrm>
          <a:prstGeom prst="rect">
            <a:avLst/>
          </a:prstGeom>
          <a:solidFill>
            <a:srgbClr val="0C0C0F"/>
          </a:solidFill>
          <a:ln w="5080">
            <a:solidFill>
              <a:srgbClr val="38A07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487168"/>
            <a:ext cx="2368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specific work. Tasks, meetings, and projects added during your morning standup. What makes today different from every other day.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0216" y="1481328"/>
            <a:ext cx="2697480" cy="2423160"/>
          </a:xfrm>
          <a:prstGeom prst="rect">
            <a:avLst/>
          </a:prstGeom>
          <a:solidFill>
            <a:srgbClr val="251508"/>
          </a:solidFill>
          <a:ln w="10160">
            <a:solidFill>
              <a:srgbClr val="C481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66420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8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Stretch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64808" y="2139696"/>
            <a:ext cx="236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4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+3pts ★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64808" y="2414016"/>
            <a:ext cx="2368296" cy="457200"/>
          </a:xfrm>
          <a:prstGeom prst="rect">
            <a:avLst/>
          </a:prstGeom>
          <a:solidFill>
            <a:srgbClr val="0C0C0F"/>
          </a:solidFill>
          <a:ln w="5080">
            <a:solidFill>
              <a:srgbClr val="C4813A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2487168"/>
            <a:ext cx="2368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thing. The task you almost didn't write down. 3 points because it takes more courage than time to declare it — and completing it feels earned.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160520"/>
            <a:ext cx="1874520" cy="566928"/>
          </a:xfrm>
          <a:prstGeom prst="rect">
            <a:avLst/>
          </a:prstGeom>
          <a:solidFill>
            <a:srgbClr val="1C1C20"/>
          </a:solidFill>
          <a:ln w="7620">
            <a:solidFill>
              <a:srgbClr val="C49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605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standup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95728" y="4197096"/>
            <a:ext cx="237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51760" y="4160520"/>
            <a:ext cx="1874520" cy="566928"/>
          </a:xfrm>
          <a:prstGeom prst="rect">
            <a:avLst/>
          </a:prstGeom>
          <a:solidFill>
            <a:srgbClr val="1C1C20"/>
          </a:solidFill>
          <a:ln w="7620">
            <a:solidFill>
              <a:srgbClr val="8B7F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41605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44568" y="4197096"/>
            <a:ext cx="237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00600" y="4160520"/>
            <a:ext cx="1874520" cy="566928"/>
          </a:xfrm>
          <a:prstGeom prst="rect">
            <a:avLst/>
          </a:prstGeom>
          <a:solidFill>
            <a:srgbClr val="1C1C20"/>
          </a:solidFill>
          <a:ln w="7620">
            <a:solidFill>
              <a:srgbClr val="38A0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41605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close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93408" y="4197096"/>
            <a:ext cx="237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49440" y="4160520"/>
            <a:ext cx="1874520" cy="566928"/>
          </a:xfrm>
          <a:prstGeom prst="rect">
            <a:avLst/>
          </a:prstGeom>
          <a:solidFill>
            <a:srgbClr val="1C1C20"/>
          </a:solidFill>
          <a:ln w="7620">
            <a:solidFill>
              <a:srgbClr val="C49A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41605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standup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A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standup that actually thinks.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Protocol's morning ritual is powered by Claude — an LLM that reasons, digs, categorizes, and documents in real time. Not a form. A conversation.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2926080" cy="438912"/>
          </a:xfrm>
          <a:prstGeom prst="rect">
            <a:avLst/>
          </a:prstGeom>
          <a:solidFill>
            <a:srgbClr val="1C1C20"/>
          </a:solidFill>
          <a:ln w="5080">
            <a:solidFill>
              <a:srgbClr val="2424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414016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Morning. What moved yesterday?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17320" y="2907792"/>
            <a:ext cx="2926080" cy="438912"/>
          </a:xfrm>
          <a:prstGeom prst="rect">
            <a:avLst/>
          </a:prstGeom>
          <a:solidFill>
            <a:srgbClr val="1A1830"/>
          </a:solidFill>
          <a:ln w="5080">
            <a:solidFill>
              <a:srgbClr val="2424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7048" y="2944368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the workout in. Finished the NHL model gates.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438144"/>
            <a:ext cx="2926080" cy="438912"/>
          </a:xfrm>
          <a:prstGeom prst="rect">
            <a:avLst/>
          </a:prstGeom>
          <a:solidFill>
            <a:srgbClr val="1C1C20"/>
          </a:solidFill>
          <a:ln w="5080">
            <a:solidFill>
              <a:srgbClr val="2424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347472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the NHL gates as a Stretch — that was the hard one. What's the move today?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17320" y="3968496"/>
            <a:ext cx="2926080" cy="438912"/>
          </a:xfrm>
          <a:prstGeom prst="rect">
            <a:avLst/>
          </a:prstGeom>
          <a:solidFill>
            <a:srgbClr val="1A1830"/>
          </a:solidFill>
          <a:ln w="5080">
            <a:solidFill>
              <a:srgbClr val="2424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27048" y="4005072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call on Bentsen Palm, then run comps on Bender Hollow.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1389888"/>
            <a:ext cx="3840480" cy="1005840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389888"/>
            <a:ext cx="45720" cy="100584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4996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Digs for specifics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18105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you close that out or is something still open?"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2578608"/>
            <a:ext cx="3840480" cy="1005840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2578608"/>
            <a:ext cx="45720" cy="100584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6883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Categorizes aloud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29992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"Logging that as Stack — 2 points."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3767328"/>
            <a:ext cx="3840480" cy="1005840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3767328"/>
            <a:ext cx="45720" cy="100584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38770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gaps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41879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haven't mentioned the workout — still on for today?"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4434840"/>
            <a:ext cx="3840480" cy="502920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44805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close seals the day → carry-forward seeds tomorrow's standup. A complete daily loop.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 ENGINE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A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mirror, not a leash.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reflect the drive you already have. The weekly scorecard is cinematic — built around peak moments and forward momentum, not gap analysis.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304288"/>
            <a:ext cx="5029200" cy="2468880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39572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C4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924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02920" y="3310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score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2766060"/>
            <a:ext cx="256032" cy="452628"/>
          </a:xfrm>
          <a:prstGeom prst="rect">
            <a:avLst/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2593238"/>
            <a:ext cx="256032" cy="625450"/>
          </a:xfrm>
          <a:prstGeom prst="rect">
            <a:avLst/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856586"/>
            <a:ext cx="256032" cy="362102"/>
          </a:xfrm>
          <a:prstGeom prst="rect">
            <a:avLst/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77640" y="2461565"/>
            <a:ext cx="256032" cy="757123"/>
          </a:xfrm>
          <a:prstGeom prst="rect">
            <a:avLst/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659075"/>
            <a:ext cx="256032" cy="559613"/>
          </a:xfrm>
          <a:prstGeom prst="rect">
            <a:avLst/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988259"/>
            <a:ext cx="256032" cy="230429"/>
          </a:xfrm>
          <a:prstGeom prst="rect">
            <a:avLst/>
          </a:prstGeom>
          <a:solidFill>
            <a:srgbClr val="3A3733"/>
          </a:solidFill>
          <a:ln w="12700">
            <a:solidFill>
              <a:srgbClr val="3A37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3119933"/>
            <a:ext cx="256032" cy="98755"/>
          </a:xfrm>
          <a:prstGeom prst="rect">
            <a:avLst/>
          </a:prstGeom>
          <a:solidFill>
            <a:srgbClr val="3A3733"/>
          </a:solidFill>
          <a:ln w="12700">
            <a:solidFill>
              <a:srgbClr val="3A37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32918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46120" y="32918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11880" y="32918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77640" y="32918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43400" y="32918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09160" y="32918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74920" y="32918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806440" y="1389888"/>
            <a:ext cx="2926080" cy="1069848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5361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7F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1.5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995160" y="1536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protocol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181051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baseline items completed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06440" y="2642616"/>
            <a:ext cx="2926080" cy="1069848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788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8A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+10/day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995160" y="2788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bonus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95160" y="3063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days above rolling average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06440" y="3895344"/>
            <a:ext cx="2926080" cy="1069848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404164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4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wks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995160" y="40416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system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95160" y="43159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arc — long game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A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 lives at the intersection of three markets.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697480" cy="3200400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81328"/>
            <a:ext cx="2697480" cy="54864"/>
          </a:xfrm>
          <a:prstGeom prst="rect">
            <a:avLst/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27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Software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7512" y="19933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A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$28B+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67512" y="2651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Global, 2024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944368"/>
            <a:ext cx="2377440" cy="365760"/>
          </a:xfrm>
          <a:prstGeom prst="rect">
            <a:avLst/>
          </a:prstGeom>
          <a:solidFill>
            <a:srgbClr val="0C0C0F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3017520"/>
            <a:ext cx="23774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Notion, Todoist, Things, TickTick. Protocol repositions the category entirely.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01568" y="1481328"/>
            <a:ext cx="2697480" cy="3200400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1568" y="1481328"/>
            <a:ext cx="2697480" cy="54864"/>
          </a:xfrm>
          <a:prstGeom prst="rect">
            <a:avLst/>
          </a:prstGeom>
          <a:solidFill>
            <a:srgbClr val="38A07A"/>
          </a:solidFill>
          <a:ln w="12700">
            <a:solidFill>
              <a:srgbClr val="38A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627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Wellness Tech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19933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A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$15B+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566160" y="2651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Wearables, apps, coaching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2944368"/>
            <a:ext cx="2377440" cy="365760"/>
          </a:xfrm>
          <a:prstGeom prst="rect">
            <a:avLst/>
          </a:prstGeom>
          <a:solidFill>
            <a:srgbClr val="0C0C0F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017520"/>
            <a:ext cx="23774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Oura, Whoop, Calm. Protocol extends wellness into professional performance.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0216" y="1481328"/>
            <a:ext cx="2697480" cy="3200400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0216" y="1481328"/>
            <a:ext cx="2697480" cy="54864"/>
          </a:xfrm>
          <a:prstGeom prst="rect">
            <a:avLst/>
          </a:prstGeom>
          <a:solidFill>
            <a:srgbClr val="C4813A"/>
          </a:solidFill>
          <a:ln w="12700">
            <a:solidFill>
              <a:srgbClr val="C481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1627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Coaching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19933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A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$12B+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464808" y="2651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market, growing 6% YoY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64808" y="2944368"/>
            <a:ext cx="2377440" cy="365760"/>
          </a:xfrm>
          <a:prstGeom prst="rect">
            <a:avLst/>
          </a:prstGeom>
          <a:solidFill>
            <a:srgbClr val="0C0C0F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3017520"/>
            <a:ext cx="23774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$1-2/month, Protocol is the most accessible version of having a coach.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A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with strong unit economics.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926080" cy="3337560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926080" cy="54864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72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9019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A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874520" y="19933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872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.99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8368" y="2578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27249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LLM standup + evening close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30723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Three-layer scoring system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34198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Weekly scorecard &amp; seasons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37673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Memory engine + templates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4114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Health &amp; calendar integration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03320" y="1417320"/>
            <a:ext cx="2450592" cy="1572768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7912" y="158191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8B7F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~$1.50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867912" y="2240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 / user / mo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67912" y="2514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+ prompt caching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36792" y="1417320"/>
            <a:ext cx="2450592" cy="1572768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1384" y="158191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38A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~$0.50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501384" y="2240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cost / user / mo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01384" y="2514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Pro, shared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03320" y="3154680"/>
            <a:ext cx="2450592" cy="1572768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67912" y="331927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4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~87%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3867912" y="39776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at scale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67912" y="4251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1,000+ active users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36792" y="3154680"/>
            <a:ext cx="2450592" cy="1572768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01384" y="331927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48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$360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501384" y="39776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(24-month)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01384" y="4251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$14.99/mo, 85% retention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EA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in public.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EA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Grown through protocol.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66420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Protocol's target user is the high-achieving individual already searching for an edge — the person who tracks their Oura score, listens to Huberman, and still feels like their productivity tool is working against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395728"/>
            <a:ext cx="1984248" cy="2450592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487168"/>
            <a:ext cx="1984248" cy="4572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786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49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624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809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Q2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1638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Personal use — Nate is user zero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5753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Build &amp; iterate in Claude Code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9867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Phase 1 feature complete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70048" y="2395728"/>
            <a:ext cx="1984248" cy="2450592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70048" y="2487168"/>
            <a:ext cx="1984248" cy="45720"/>
          </a:xfrm>
          <a:prstGeom prst="rect">
            <a:avLst/>
          </a:prstGeom>
          <a:solidFill>
            <a:srgbClr val="8B7FD4"/>
          </a:solidFill>
          <a:ln w="12700">
            <a:solidFill>
              <a:srgbClr val="8B7F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07208" y="25786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7F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64408" y="2624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Beta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07208" y="29809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07208" y="31638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100 invited users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07208" y="35753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Sandbox Sports community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07208" y="39867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Refine scoring + memory engine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37176" y="2395728"/>
            <a:ext cx="1984248" cy="2450592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37176" y="2487168"/>
            <a:ext cx="1984248" cy="45720"/>
          </a:xfrm>
          <a:prstGeom prst="rect">
            <a:avLst/>
          </a:prstGeom>
          <a:solidFill>
            <a:srgbClr val="38A07A"/>
          </a:solidFill>
          <a:ln w="12700">
            <a:solidFill>
              <a:srgbClr val="38A0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4336" y="25786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A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431536" y="2624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74336" y="29809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38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74336" y="31638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Content-led acquisition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74336" y="35753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App Store + Product Hunt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74336" y="39867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Team &amp; creator plans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04304" y="2395728"/>
            <a:ext cx="1984248" cy="2450592"/>
          </a:xfrm>
          <a:prstGeom prst="rect">
            <a:avLst/>
          </a:prstGeom>
          <a:solidFill>
            <a:srgbClr val="1C1C20"/>
          </a:solidFill>
          <a:ln w="6350">
            <a:solidFill>
              <a:srgbClr val="2424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04304" y="2487168"/>
            <a:ext cx="1984248" cy="45720"/>
          </a:xfrm>
          <a:prstGeom prst="rect">
            <a:avLst/>
          </a:prstGeom>
          <a:solidFill>
            <a:srgbClr val="C4813A"/>
          </a:solidFill>
          <a:ln w="12700">
            <a:solidFill>
              <a:srgbClr val="C481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41464" y="25786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48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598664" y="2624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41464" y="29809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4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41464" y="31638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B2B — team protocols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41464" y="35753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API for integrations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41464" y="39867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Season leaderboards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3A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VISION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A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Protocol goes.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53896"/>
            <a:ext cx="45720" cy="71323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17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ritual is the moat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728216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productivity app you use daily for 90 days becomes load-bearing infrastructure for your life. Switching cost is not features — it's history.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368296"/>
            <a:ext cx="45720" cy="71323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331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engine is defensible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642616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6 months, Protocol knows things about your rhythm that no competitor can replicate. The data compounds. The insight layer deepens.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282696"/>
            <a:ext cx="45720" cy="71323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2461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is adjacent to wellness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3557016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is positioned closer to Oura, Whoop, and Calm than to Todoist. The willingness-to-pay and the customer relationship are fundamentally different.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197096"/>
            <a:ext cx="45720" cy="71323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1605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are the natural expansion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4471416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87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that runs Protocol together has a shared operating language. The B2B motion follows the individual habit. Bottom-up SaaS at its cleanest.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2011680"/>
            <a:ext cx="5486400" cy="5486400"/>
          </a:xfrm>
          <a:prstGeom prst="ellipse">
            <a:avLst/>
          </a:prstGeom>
          <a:solidFill>
            <a:srgbClr val="C49A3C">
              <a:alpha val="4000"/>
            </a:srgbClr>
          </a:solidFill>
          <a:ln w="6350">
            <a:solidFill>
              <a:srgbClr val="7A5E2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2560320"/>
            <a:ext cx="4572000" cy="4572000"/>
          </a:xfrm>
          <a:prstGeom prst="ellipse">
            <a:avLst/>
          </a:prstGeom>
          <a:solidFill>
            <a:srgbClr val="8B7FD4">
              <a:alpha val="3000"/>
            </a:srgbClr>
          </a:solidFill>
          <a:ln w="6350">
            <a:solidFill>
              <a:srgbClr val="4A408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3000" dirty="0">
                <a:solidFill>
                  <a:srgbClr val="EA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should feel less like a tracker</a:t>
            </a:r>
            <a:endParaRPr lang="en-US" sz="3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3000" dirty="0">
                <a:solidFill>
                  <a:srgbClr val="EA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more like the one person who</a:t>
            </a:r>
            <a:endParaRPr lang="en-US" sz="3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3000" dirty="0">
                <a:solidFill>
                  <a:srgbClr val="EAE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seems to know how you're doing.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000" i="1" dirty="0">
                <a:solidFill>
                  <a:srgbClr val="E0B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because they're watching.</a:t>
            </a:r>
            <a:endParaRPr lang="en-US" sz="20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2000" i="1" dirty="0">
                <a:solidFill>
                  <a:srgbClr val="E0B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 they're paying attention.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 — Pitch Deck</dc:title>
  <dc:subject>PptxGenJS Presentation</dc:subject>
  <dc:creator>PptxGenJS</dc:creator>
  <cp:lastModifiedBy>PptxGenJS</cp:lastModifiedBy>
  <cp:revision>1</cp:revision>
  <dcterms:created xsi:type="dcterms:W3CDTF">2026-04-05T11:29:27Z</dcterms:created>
  <dcterms:modified xsi:type="dcterms:W3CDTF">2026-04-05T11:29:27Z</dcterms:modified>
</cp:coreProperties>
</file>